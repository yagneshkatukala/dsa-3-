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4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1" r:id="rId7"/>
    <p:sldId id="263" r:id="rId8"/>
  </p:sldIdLst>
  <p:sldSz cx="9144000" cy="5143500" type="screen16x9"/>
  <p:notesSz cx="5143500" cy="9144000"/>
  <p:embeddedFontLst>
    <p:embeddedFont>
      <p:font typeface="Lora" pitchFamily="2" charset="0"/>
      <p:regular r:id="rId10"/>
    </p:embeddedFont>
    <p:embeddedFont>
      <p:font typeface="Source Sans 3" panose="020B0604020202020204" charset="0"/>
      <p:regular r:id="rId11"/>
    </p:embeddedFont>
    <p:embeddedFont>
      <p:font typeface="Source Sans 3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35:45.82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41,'4'1,"0"0,-1 0,1 1,0-1,-1 1,1-1,-1 1,6 5,7 2,36 14,1-2,1-3,0-2,73 10,-66-19,1-3,84-7,-37 1,640 2,-732-1,0-2,0 0,0-1,-1 0,27-11,19-6,-39 14,0-1,40-21,-45 21,-1 1,0 1,1 1,-1 1,1 0,0 2,0 0,28 0,27-3,-58 3,0-2,20-6,-21 5,1 1,20-3,45 2,89 5,-70 1,-97-1,56 4,-55-3,1-1,-1 1,0 0,0 0,1 0,-1 0,0 1,0-1,0 1,-1 0,1 0,0 0,-1 0,5 5,3 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47:16.61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4:47:39.61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0,'27101'0'0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49:56.10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36:05.314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1,'860'0,"-824"1,38 8,29 1,-84-10,3 0,-1 0,1 2,-1 0,33 9,1 2,1-2,87 5,-11 5,-90-13,1-1,50 1,692-10,-758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4:48:10.26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0,'7483'175'0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4:48:17.313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4 0,'17181'0'0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36:14.158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1,'2596'0,"-2569"0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4:48:37.245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0,'25283'0'0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36:25.98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0 119,'56'3,"-1"3,1 2,90 25,-75-16,-22-9,0-3,0-1,96-7,-38 1,277 2,-367-2,1 0,-1-1,0 0,0-2,29-10,-22 6,40-8,181-30,-196 39,0 2,71 2,41-4,-138 5,7 0,-1-2,31-8,-17 1,1 1,1 3,-1 2,1 2,46 1,326 4,-393-1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49:02.223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63,'773'-15,"-734"13,207-17,113-7,4 27,-124 1,-78-3,183 3,-242 9,143 33,-168-28,-10-2,-19-3,1-2,96 6,-105-13,63 11,-7 0,505 16,7-29,-257-2,208 2,-536-1,-1-2,0-1,1 0,21-8,27-6,1 9,-1 2,119 6,-145 1,-23-1,-1-1,1-1,36-10,-31 6,45-5,252 9,-172 6,3466-3,-3404 9,-42-1,450 58,-364-30,-47-20,265-12,-237-7,270 15,307-2,-497-12,11376 2,-11677 0,-13 1,1 0,-1-1,0 0,1 0,-1-1,1 1,-1-1,0 0,1-1,-1 1,0-1,0 0,0 0,5-3,-10 4,1 1,0-1,-1 0,1 1,-1-1,1 0,-1 0,1 1,-1-1,0 0,1 0,-1 0,0 1,0-1,1 0,-1 0,0 0,0 0,0 1,0-1,0 0,0 0,0 0,0 0,-1 0,1-1,-1 0,-1-1,1 1,0-1,-1 1,1 0,-1 0,0-1,-3-2,-2-2,-1 1,0 0,-17-10,-2 3,-1 1,0 1,-1 1,-1 2,1 0,-1 3,-36-4,-220 4,181 7,51-4,-80-14,-15-1,-188 13,282 4,99 0,-19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49:03.192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36:33.194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1 139,'444'0,"-417"-2,-1-1,1-1,-1-1,26-9,46-10,121-25,-217 48,55-11,108-7,-162 19,384-6,-217 8,791-2,-937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36:34.60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4:49:14.631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 0,'25186'0'0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4:49:34.48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8 0,'25127'0'0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0T04:49:42.529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3207 1,'-3'2,"1"-1,-1 1,0 0,1-1,-1 0,0 1,0-1,0 0,0-1,0 1,-6 0,-39 2,34-2,-518 1,272-4,191 2,-258 12,232-7,69-4,-1 0,1 1,0 2,-27 7,22-3,-1-2,1 0,-53 1,-100-9,69 0,-630 2,735 0,0 0,0 0,0 1,0 1,0 0,1 0,-1 1,1 0,-1 1,1 0,0 0,0 1,-9 7,3-1,1 1,1 0,0 1,-20 25,-11 12,-93 80,108-103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5:55:15.13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4 0,'25237'0'0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5:55:33.670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0,'25236'0'0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05:55:46.718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0,'25381'0'0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53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8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3.png"/><Relationship Id="rId4" Type="http://schemas.openxmlformats.org/officeDocument/2006/relationships/customXml" Target="../ink/ink10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16.png"/><Relationship Id="rId4" Type="http://schemas.openxmlformats.org/officeDocument/2006/relationships/customXml" Target="../ink/ink13.xml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svg"/><Relationship Id="rId7" Type="http://schemas.openxmlformats.org/officeDocument/2006/relationships/customXml" Target="../ink/ink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image" Target="../media/image23.png"/><Relationship Id="rId4" Type="http://schemas.openxmlformats.org/officeDocument/2006/relationships/image" Target="../media/image14.svg"/><Relationship Id="rId9" Type="http://schemas.openxmlformats.org/officeDocument/2006/relationships/customXml" Target="../ink/ink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20.xml"/><Relationship Id="rId4" Type="http://schemas.openxmlformats.org/officeDocument/2006/relationships/customXml" Target="../ink/ink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13743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Unicode Pattern Search Engine for Indian Language Wikipedia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94977" y="2192982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Unicode-Aware Text Search Engine Using Data Structures and Algorithms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645013"/>
            <a:ext cx="8096845" cy="19050"/>
          </a:xfrm>
          <a:prstGeom prst="roundRect">
            <a:avLst>
              <a:gd name="adj" fmla="val 50000"/>
            </a:avLst>
          </a:prstGeom>
          <a:solidFill>
            <a:srgbClr val="3A363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5900" y="2862635"/>
            <a:ext cx="4081314" cy="1267123"/>
          </a:xfrm>
          <a:prstGeom prst="roundRect">
            <a:avLst>
              <a:gd name="adj" fmla="val 1771"/>
            </a:avLst>
          </a:prstGeom>
          <a:solidFill>
            <a:srgbClr val="38512F"/>
          </a:solidFill>
          <a:ln/>
        </p:spPr>
      </p:sp>
      <p:sp>
        <p:nvSpPr>
          <p:cNvPr id="6" name="Text 4"/>
          <p:cNvSpPr/>
          <p:nvPr/>
        </p:nvSpPr>
        <p:spPr>
          <a:xfrm>
            <a:off x="518816" y="2927822"/>
            <a:ext cx="3828826" cy="304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8816" y="3158197"/>
            <a:ext cx="3828826" cy="836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</a:rPr>
              <a:t>2520030452-B.Jhahnavi</a:t>
            </a:r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</a:rPr>
              <a:t>2520030449-P.Mouvya Sri</a:t>
            </a:r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</a:rPr>
              <a:t>2520030121-K.Yagnesh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[Roll Numbers]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9226" y="3012207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Department &amp; Institution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59226" y="3381747"/>
            <a:ext cx="3865959" cy="61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[Department]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[College Name]</a:t>
            </a: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0D775DA-C4A8-11C4-E2AC-10D50DF90A35}"/>
                  </a:ext>
                </a:extLst>
              </p14:cNvPr>
              <p14:cNvContentPartPr/>
              <p14:nvPr/>
            </p14:nvContentPartPr>
            <p14:xfrm>
              <a:off x="8138105" y="4943991"/>
              <a:ext cx="963360" cy="65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0D775DA-C4A8-11C4-E2AC-10D50DF90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4105" y="4836351"/>
                <a:ext cx="10710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FEB2DA3-C293-5E06-AD41-E64219D3BB03}"/>
                  </a:ext>
                </a:extLst>
              </p14:cNvPr>
              <p14:cNvContentPartPr/>
              <p14:nvPr/>
            </p14:nvContentPartPr>
            <p14:xfrm>
              <a:off x="9868265" y="142056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FEB2DA3-C293-5E06-AD41-E64219D3BB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14625" y="13129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B35BD9B-D981-F792-2E02-F25FDE27D1FA}"/>
                  </a:ext>
                </a:extLst>
              </p14:cNvPr>
              <p14:cNvContentPartPr/>
              <p14:nvPr/>
            </p14:nvContentPartPr>
            <p14:xfrm>
              <a:off x="41705" y="5029200"/>
              <a:ext cx="975672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B35BD9B-D981-F792-2E02-F25FDE27D1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1935" y="4813200"/>
                <a:ext cx="98643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E4C6A47-3352-7AFA-FFF3-E42A57E8E091}"/>
                  </a:ext>
                </a:extLst>
              </p14:cNvPr>
              <p14:cNvContentPartPr/>
              <p14:nvPr/>
            </p14:nvContentPartPr>
            <p14:xfrm>
              <a:off x="9832985" y="350958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E4C6A47-3352-7AFA-FFF3-E42A57E8E0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79345" y="340194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E33BE4-4A46-8FA3-4B03-8FA54AE9C156}"/>
              </a:ext>
            </a:extLst>
          </p:cNvPr>
          <p:cNvSpPr txBox="1"/>
          <p:nvPr/>
        </p:nvSpPr>
        <p:spPr>
          <a:xfrm>
            <a:off x="351692" y="407963"/>
            <a:ext cx="119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ABSTRACT: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115C5-6CAE-3D46-8779-3F17B9384894}"/>
              </a:ext>
            </a:extLst>
          </p:cNvPr>
          <p:cNvSpPr txBox="1"/>
          <p:nvPr/>
        </p:nvSpPr>
        <p:spPr>
          <a:xfrm>
            <a:off x="384883" y="837029"/>
            <a:ext cx="8180362" cy="452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/>
              <a:t>The </a:t>
            </a:r>
            <a:r>
              <a:rPr lang="en-IN" sz="1600" b="1" dirty="0"/>
              <a:t>Unicode Pattern Search Engine</a:t>
            </a:r>
            <a:r>
              <a:rPr lang="en-IN" sz="1600" dirty="0"/>
              <a:t> is designed to provide fast and efficient keyword searching across large </a:t>
            </a:r>
            <a:r>
              <a:rPr lang="en-IN" sz="1600" b="1" dirty="0"/>
              <a:t>Indian-language Wikipedia datasets</a:t>
            </a:r>
            <a:r>
              <a:rPr lang="en-IN" sz="1600" dirty="0"/>
              <a:t>. The system addresses the limitations of traditional substring searching, which can become inefficient when handling large multilingual corpora and complex Unicode scripts such as </a:t>
            </a:r>
            <a:r>
              <a:rPr lang="en-IN" sz="1600" b="1" dirty="0"/>
              <a:t>Telugu, Devanagari, Tamil, and Bengali</a:t>
            </a:r>
            <a:r>
              <a:rPr lang="en-IN" sz="1600" dirty="0"/>
              <a:t>. It uses </a:t>
            </a:r>
            <a:r>
              <a:rPr lang="en-IN" sz="1600" b="1" dirty="0"/>
              <a:t>Unicode-aware text preprocessing</a:t>
            </a:r>
            <a:r>
              <a:rPr lang="en-IN" sz="1600" dirty="0"/>
              <a:t> to handle multilingual content effectively.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The proposed system implements advanced </a:t>
            </a:r>
            <a:r>
              <a:rPr lang="en-IN" sz="1600" b="1" dirty="0"/>
              <a:t>Data Structures and Algorithms</a:t>
            </a:r>
            <a:r>
              <a:rPr lang="en-IN" sz="1600" dirty="0"/>
              <a:t>, including </a:t>
            </a:r>
            <a:r>
              <a:rPr lang="en-IN" sz="1600" b="1" dirty="0"/>
              <a:t>KMP, Rabin-Karp, and Aho-</a:t>
            </a:r>
            <a:r>
              <a:rPr lang="en-IN" sz="1600" b="1" dirty="0" err="1"/>
              <a:t>Corasick</a:t>
            </a:r>
            <a:r>
              <a:rPr lang="en-IN" sz="1600" dirty="0"/>
              <a:t> for efficient pattern matching. An </a:t>
            </a:r>
            <a:r>
              <a:rPr lang="en-IN" sz="1600" b="1" dirty="0"/>
              <a:t>inverted index</a:t>
            </a:r>
            <a:r>
              <a:rPr lang="en-IN" sz="1600" dirty="0"/>
              <a:t> is used to reduce search time and support large datasets, while </a:t>
            </a:r>
            <a:r>
              <a:rPr lang="en-IN" sz="1600" b="1" dirty="0"/>
              <a:t>Hash Tables</a:t>
            </a:r>
            <a:r>
              <a:rPr lang="en-IN" sz="1600" dirty="0"/>
              <a:t> assist in fast lookup and frequency-based processing. The system supports </a:t>
            </a:r>
            <a:r>
              <a:rPr lang="en-IN" sz="1600" b="1" dirty="0"/>
              <a:t>single and multi-keyword queries</a:t>
            </a:r>
            <a:r>
              <a:rPr lang="en-IN" sz="1600" dirty="0"/>
              <a:t>, ranks results based on relevance, and provides </a:t>
            </a:r>
            <a:r>
              <a:rPr lang="en-IN" sz="1600" b="1" dirty="0"/>
              <a:t>contextual snippets</a:t>
            </a:r>
            <a:r>
              <a:rPr lang="en-IN" sz="1600" dirty="0"/>
              <a:t> to help users quickly identify useful information.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F38CEE-9630-C051-6046-7CB02CEF3810}"/>
                  </a:ext>
                </a:extLst>
              </p14:cNvPr>
              <p14:cNvContentPartPr/>
              <p14:nvPr/>
            </p14:nvContentPartPr>
            <p14:xfrm>
              <a:off x="8095625" y="4965591"/>
              <a:ext cx="939240" cy="43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F38CEE-9630-C051-6046-7CB02CEF38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41985" y="4857951"/>
                <a:ext cx="10468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FEFF59-1AF6-E6E2-FC99-6452F6360B38}"/>
                  </a:ext>
                </a:extLst>
              </p14:cNvPr>
              <p14:cNvContentPartPr/>
              <p14:nvPr/>
            </p14:nvContentPartPr>
            <p14:xfrm>
              <a:off x="63305" y="5014800"/>
              <a:ext cx="2694240" cy="63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FEFF59-1AF6-E6E2-FC99-6452F6360B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05" y="4907160"/>
                <a:ext cx="28018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6ED527-0D99-E27E-CC4B-1A70A0D58F08}"/>
                  </a:ext>
                </a:extLst>
              </p14:cNvPr>
              <p14:cNvContentPartPr/>
              <p14:nvPr/>
            </p14:nvContentPartPr>
            <p14:xfrm>
              <a:off x="2848265" y="5036040"/>
              <a:ext cx="6185880" cy="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6ED527-0D99-E27E-CC4B-1A70A0D58F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94625" y="4820040"/>
                <a:ext cx="629352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75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693"/>
            <a:ext cx="809684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3577" y="1145232"/>
            <a:ext cx="3883075" cy="103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Indian language Wikipedia is expanding at an unprecedented pace, yet the tools to search it remain inadequate. Traditional substring search is too slow for large multilingual datasets, and Unicode scripts — Devanagari, Telugu, Tamil, Bengali — require specialized handling that most existing systems simply do not provide.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3577" y="2317031"/>
            <a:ext cx="3883075" cy="702320"/>
          </a:xfrm>
          <a:prstGeom prst="roundRect">
            <a:avLst>
              <a:gd name="adj" fmla="val 2896"/>
            </a:avLst>
          </a:prstGeom>
          <a:solidFill>
            <a:srgbClr val="E2ECD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0" y="2510656"/>
            <a:ext cx="169441" cy="135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4183" y="2461468"/>
            <a:ext cx="3306887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Core Challenge: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Build a fast, scalable, Unicode-aware search engine using efficient DSA techniques.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2111" y="1172840"/>
            <a:ext cx="3883075" cy="10449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2943" y="1327472"/>
            <a:ext cx="349761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Rapid Content Growth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972943" y="1649760"/>
            <a:ext cx="3497610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Indian language Wikipedia articles are growing rapidly, demanding scalable search infrastructure.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2111" y="2340694"/>
            <a:ext cx="3883075" cy="10449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72943" y="2495327"/>
            <a:ext cx="349761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Unicode Complexity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972943" y="2817614"/>
            <a:ext cx="3497610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Scripts like Devanagari and Tamil require proper normalization before any search can be performed.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2111" y="3508549"/>
            <a:ext cx="3883075" cy="10449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72943" y="3663181"/>
            <a:ext cx="3497610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Capabilities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972943" y="3985468"/>
            <a:ext cx="3497610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Existing systems lack efficient indexing and multi-keyword search support for Indian languages.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748D3BB-651B-C0DE-E3EA-C48934BD7CFA}"/>
                  </a:ext>
                </a:extLst>
              </p14:cNvPr>
              <p14:cNvContentPartPr/>
              <p14:nvPr/>
            </p14:nvContentPartPr>
            <p14:xfrm>
              <a:off x="8095625" y="5000871"/>
              <a:ext cx="9446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748D3BB-651B-C0DE-E3EA-C48934BD7C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41985" y="4893231"/>
                <a:ext cx="1052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E341319-3E6C-B253-0526-509E68D11F40}"/>
                  </a:ext>
                </a:extLst>
              </p14:cNvPr>
              <p14:cNvContentPartPr/>
              <p14:nvPr/>
            </p14:nvContentPartPr>
            <p14:xfrm>
              <a:off x="48905" y="5029200"/>
              <a:ext cx="910224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E341319-3E6C-B253-0526-509E68D11F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4735" y="4813200"/>
                <a:ext cx="9209880" cy="43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891"/>
            <a:ext cx="8096845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Algorithms and Data Structures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3577" y="938659"/>
            <a:ext cx="3914403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Pattern Matching Algorithms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190923"/>
            <a:ext cx="3914403" cy="10955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98365" y="1266974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7700" y="1615455"/>
            <a:ext cx="3666158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KMP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7700" y="1857673"/>
            <a:ext cx="366615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Single-pattern search with </a:t>
            </a:r>
            <a:r>
              <a:rPr lang="en-US" sz="8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O(n+m)</a:t>
            </a: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time complexity. Avoids redundant comparisons using a failure function.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367111"/>
            <a:ext cx="3914403" cy="10955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98365" y="2443163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7700" y="2791644"/>
            <a:ext cx="3666158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Rabin-Karp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7700" y="3033861"/>
            <a:ext cx="366615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Hash-based multi-pattern detection. Efficient rolling hash enables simultaneous pattern scanning.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3543300"/>
            <a:ext cx="3914403" cy="10955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98365" y="3619351"/>
            <a:ext cx="1647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7700" y="3967832"/>
            <a:ext cx="3666158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Aho-Corasick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7700" y="4210050"/>
            <a:ext cx="366615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Multi-keyword matching in a single pass over the text. Ideal for large keyword sets.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710782" y="938659"/>
            <a:ext cx="3914403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Indexing Structures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10782" y="1190923"/>
            <a:ext cx="1916832" cy="918865"/>
          </a:xfrm>
          <a:prstGeom prst="roundRect">
            <a:avLst>
              <a:gd name="adj" fmla="val 1794"/>
            </a:avLst>
          </a:prstGeom>
          <a:solidFill>
            <a:srgbClr val="F3E7D4"/>
          </a:solidFill>
          <a:ln/>
        </p:spPr>
      </p:sp>
      <p:sp>
        <p:nvSpPr>
          <p:cNvPr id="18" name="Text 13"/>
          <p:cNvSpPr/>
          <p:nvPr/>
        </p:nvSpPr>
        <p:spPr>
          <a:xfrm>
            <a:off x="4820617" y="1300758"/>
            <a:ext cx="169716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Inverted Index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20617" y="1542976"/>
            <a:ext cx="1697162" cy="456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Maps every keyword to the list of documents containing it, enabling sub-linear search time.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708279" y="1190923"/>
            <a:ext cx="1916906" cy="918865"/>
          </a:xfrm>
          <a:prstGeom prst="roundRect">
            <a:avLst>
              <a:gd name="adj" fmla="val 1794"/>
            </a:avLst>
          </a:prstGeom>
          <a:solidFill>
            <a:srgbClr val="F3E7D4"/>
          </a:solidFill>
          <a:ln/>
        </p:spPr>
      </p:sp>
      <p:sp>
        <p:nvSpPr>
          <p:cNvPr id="21" name="Text 16"/>
          <p:cNvSpPr/>
          <p:nvPr/>
        </p:nvSpPr>
        <p:spPr>
          <a:xfrm>
            <a:off x="6818114" y="1300758"/>
            <a:ext cx="1697236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Hash Tables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18114" y="1542976"/>
            <a:ext cx="1697236" cy="456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 O(1) average-case lookup and frequency counting across the document corpus.</a:t>
            </a:r>
            <a:endParaRPr lang="en-US" sz="8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160950C-8DA5-A65B-82D3-6D8472666E04}"/>
                  </a:ext>
                </a:extLst>
              </p14:cNvPr>
              <p14:cNvContentPartPr/>
              <p14:nvPr/>
            </p14:nvContentPartPr>
            <p14:xfrm>
              <a:off x="8060705" y="4943991"/>
              <a:ext cx="1046520" cy="73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160950C-8DA5-A65B-82D3-6D8472666E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6705" y="4836351"/>
                <a:ext cx="11541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05BBC58-52FA-1084-2018-E52425473186}"/>
                  </a:ext>
                </a:extLst>
              </p14:cNvPr>
              <p14:cNvContentPartPr/>
              <p14:nvPr/>
            </p14:nvContentPartPr>
            <p14:xfrm>
              <a:off x="70145" y="5020560"/>
              <a:ext cx="9415800" cy="86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05BBC58-52FA-1084-2018-E524254731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505" y="4912920"/>
                <a:ext cx="95234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AC477C2-8925-2601-EF4D-5CB70ED2A631}"/>
                  </a:ext>
                </a:extLst>
              </p14:cNvPr>
              <p14:cNvContentPartPr/>
              <p14:nvPr/>
            </p14:nvContentPartPr>
            <p14:xfrm>
              <a:off x="7659665" y="430452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AC477C2-8925-2601-EF4D-5CB70ED2A6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06025" y="419688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239" y="33790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Proposed system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094184"/>
            <a:ext cx="8096845" cy="3497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55693" y="3450150"/>
            <a:ext cx="1202237" cy="411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Unicode Preprocessing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455693" y="3924330"/>
            <a:ext cx="1202237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Normalize multilingual text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2727" y="3450150"/>
            <a:ext cx="1202237" cy="411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Pattern Matching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542727" y="3924330"/>
            <a:ext cx="1202237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KMP, Rabin-Karp, Aho-Corasick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6007" y="1409766"/>
            <a:ext cx="1202237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6007" y="1677998"/>
            <a:ext cx="1202237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Input keywords from user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36552" y="1409766"/>
            <a:ext cx="1202237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Ranked Results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36552" y="1677998"/>
            <a:ext cx="1202237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 results with context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8370" y="1409766"/>
            <a:ext cx="1202236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Inverted Index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18370" y="1677998"/>
            <a:ext cx="1202236" cy="35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 terms to document locations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2CE349-5773-1A2F-E309-BABEFC5F266F}"/>
                  </a:ext>
                </a:extLst>
              </p14:cNvPr>
              <p14:cNvContentPartPr/>
              <p14:nvPr/>
            </p14:nvContentPartPr>
            <p14:xfrm>
              <a:off x="8039465" y="4972071"/>
              <a:ext cx="968400" cy="50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2CE349-5773-1A2F-E309-BABEFC5F26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85825" y="4864071"/>
                <a:ext cx="10760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FCFE43C-C928-72D0-D2F2-E6A0C2E52B08}"/>
                  </a:ext>
                </a:extLst>
              </p14:cNvPr>
              <p14:cNvContentPartPr/>
              <p14:nvPr/>
            </p14:nvContentPartPr>
            <p14:xfrm>
              <a:off x="9861425" y="469152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FCFE43C-C928-72D0-D2F2-E6A0C2E52B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07425" y="45835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93861DB-827E-00A2-8549-5729749169EF}"/>
                  </a:ext>
                </a:extLst>
              </p14:cNvPr>
              <p14:cNvContentPartPr/>
              <p14:nvPr/>
            </p14:nvContentPartPr>
            <p14:xfrm>
              <a:off x="70145" y="5014800"/>
              <a:ext cx="906732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93861DB-827E-00A2-8549-5729749169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145" y="4798800"/>
                <a:ext cx="9174960" cy="43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4372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Expected Outcomes &amp;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9295" y="1011064"/>
            <a:ext cx="4077295" cy="3677989"/>
          </a:xfrm>
          <a:prstGeom prst="roundRect">
            <a:avLst>
              <a:gd name="adj" fmla="val 534"/>
            </a:avLst>
          </a:prstGeom>
          <a:solidFill>
            <a:srgbClr val="38512F"/>
          </a:solidFill>
          <a:ln/>
        </p:spPr>
      </p:sp>
      <p:sp>
        <p:nvSpPr>
          <p:cNvPr id="4" name="Text 2"/>
          <p:cNvSpPr/>
          <p:nvPr/>
        </p:nvSpPr>
        <p:spPr>
          <a:xfrm>
            <a:off x="560189" y="1125587"/>
            <a:ext cx="38155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Expected Outcomes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302" y="1453455"/>
            <a:ext cx="196304" cy="19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5614" y="1446907"/>
            <a:ext cx="33900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keyword searching in large multilingual collections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302" y="2081733"/>
            <a:ext cx="196304" cy="196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614" y="2075185"/>
            <a:ext cx="33900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Unicode-aware support for multiple Indian languages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302" y="2710011"/>
            <a:ext cx="196304" cy="1963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5614" y="2703463"/>
            <a:ext cx="33900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single and multi-keyword search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302" y="3338289"/>
            <a:ext cx="196304" cy="1963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5614" y="3331741"/>
            <a:ext cx="33900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Relevant ranked results with contextual snippets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736455" y="1125587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867349" y="1643211"/>
            <a:ext cx="130894" cy="765051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15" name="Shape 9"/>
          <p:cNvSpPr/>
          <p:nvPr/>
        </p:nvSpPr>
        <p:spPr>
          <a:xfrm>
            <a:off x="4736455" y="1557338"/>
            <a:ext cx="392683" cy="392683"/>
          </a:xfrm>
          <a:prstGeom prst="ellipse">
            <a:avLst/>
          </a:prstGeom>
          <a:solidFill>
            <a:srgbClr val="F3E7D4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4607" y="1655564"/>
            <a:ext cx="196304" cy="19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43661" y="1577801"/>
            <a:ext cx="338152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Advanced Ranking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243661" y="1884834"/>
            <a:ext cx="338152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TF-IDF and BM25 scoring for more nuanced relevance ranking.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063654" y="2719164"/>
            <a:ext cx="130894" cy="765051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20" name="Shape 13"/>
          <p:cNvSpPr/>
          <p:nvPr/>
        </p:nvSpPr>
        <p:spPr>
          <a:xfrm>
            <a:off x="4932759" y="2633290"/>
            <a:ext cx="392683" cy="392683"/>
          </a:xfrm>
          <a:prstGeom prst="ellipse">
            <a:avLst/>
          </a:prstGeom>
          <a:solidFill>
            <a:srgbClr val="F3E7D4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0912" y="2731517"/>
            <a:ext cx="196304" cy="19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39966" y="2653754"/>
            <a:ext cx="318522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439966" y="2960787"/>
            <a:ext cx="3185220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web-based search interface accessible to end users across devices.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5260032" y="3795117"/>
            <a:ext cx="130894" cy="765051"/>
          </a:xfrm>
          <a:prstGeom prst="roundRect">
            <a:avLst>
              <a:gd name="adj" fmla="val 15002"/>
            </a:avLst>
          </a:prstGeom>
          <a:solidFill>
            <a:srgbClr val="F3E7D4"/>
          </a:solidFill>
          <a:ln/>
        </p:spPr>
      </p:sp>
      <p:sp>
        <p:nvSpPr>
          <p:cNvPr id="25" name="Shape 17"/>
          <p:cNvSpPr/>
          <p:nvPr/>
        </p:nvSpPr>
        <p:spPr>
          <a:xfrm>
            <a:off x="5129138" y="3709243"/>
            <a:ext cx="392683" cy="392683"/>
          </a:xfrm>
          <a:prstGeom prst="ellipse">
            <a:avLst/>
          </a:prstGeom>
          <a:solidFill>
            <a:srgbClr val="F3E7D4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7290" y="3807470"/>
            <a:ext cx="196304" cy="19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636344" y="3729707"/>
            <a:ext cx="298884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Distributed Processing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636344" y="4036740"/>
            <a:ext cx="2988841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to large datasets using distributed computing infrastructure.</a:t>
            </a: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E39578F-7481-D9CA-0C5C-61E95C1AEFDF}"/>
                  </a:ext>
                </a:extLst>
              </p14:cNvPr>
              <p14:cNvContentPartPr/>
              <p14:nvPr/>
            </p14:nvContentPartPr>
            <p14:xfrm>
              <a:off x="84185" y="5042880"/>
              <a:ext cx="9046080" cy="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E39578F-7481-D9CA-0C5C-61E95C1AEF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185" y="4826880"/>
                <a:ext cx="91537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5BB0848-3C4F-718A-60AF-2016C99A5B5B}"/>
                  </a:ext>
                </a:extLst>
              </p14:cNvPr>
              <p14:cNvContentPartPr/>
              <p14:nvPr/>
            </p14:nvContentPartPr>
            <p14:xfrm>
              <a:off x="7919225" y="4958640"/>
              <a:ext cx="1154520" cy="149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5BB0848-3C4F-718A-60AF-2016C99A5B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65585" y="4851000"/>
                <a:ext cx="1262160" cy="36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616A0E-2A1C-F945-C0C3-50F18E11A243}"/>
              </a:ext>
            </a:extLst>
          </p:cNvPr>
          <p:cNvSpPr txBox="1"/>
          <p:nvPr/>
        </p:nvSpPr>
        <p:spPr>
          <a:xfrm>
            <a:off x="258097" y="324153"/>
            <a:ext cx="2132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7A6C7E-008B-B6D4-CB7A-5F154ACD3605}"/>
              </a:ext>
            </a:extLst>
          </p:cNvPr>
          <p:cNvSpPr txBox="1"/>
          <p:nvPr/>
        </p:nvSpPr>
        <p:spPr>
          <a:xfrm>
            <a:off x="258097" y="693485"/>
            <a:ext cx="859873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/>
              <a:t>The </a:t>
            </a:r>
            <a:r>
              <a:rPr lang="en-IN" sz="1600" b="1" dirty="0"/>
              <a:t>Unicode Pattern Search Engine</a:t>
            </a:r>
            <a:r>
              <a:rPr lang="en-IN" sz="1600" dirty="0"/>
              <a:t> provides a powerful and scalable approach to searching large collections of </a:t>
            </a:r>
            <a:r>
              <a:rPr lang="en-IN" sz="1600" b="1" dirty="0"/>
              <a:t>Indian-language Wikipedia content</a:t>
            </a:r>
            <a:r>
              <a:rPr lang="en-IN" sz="1600" dirty="0"/>
              <a:t>. The project addresses the limitations of traditional substring searching by combining </a:t>
            </a:r>
            <a:r>
              <a:rPr lang="en-IN" sz="1600" b="1" dirty="0"/>
              <a:t>Unicode-aware text processing with advanced Data Structures and Algorithms</a:t>
            </a:r>
            <a:r>
              <a:rPr lang="en-IN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By integrating </a:t>
            </a:r>
            <a:r>
              <a:rPr lang="en-IN" sz="1600" b="1" dirty="0"/>
              <a:t>KMP, Rabin-Karp, and Aho-</a:t>
            </a:r>
            <a:r>
              <a:rPr lang="en-IN" sz="1600" b="1" dirty="0" err="1"/>
              <a:t>Corasick</a:t>
            </a:r>
            <a:r>
              <a:rPr lang="en-IN" sz="1600" dirty="0"/>
              <a:t>, the system supports both </a:t>
            </a:r>
            <a:r>
              <a:rPr lang="en-IN" sz="1600" b="1" dirty="0"/>
              <a:t>single and multi-keyword searching</a:t>
            </a:r>
            <a:r>
              <a:rPr lang="en-IN" sz="1600" dirty="0"/>
              <a:t> efficiently. The </a:t>
            </a:r>
            <a:r>
              <a:rPr lang="en-IN" sz="1600" b="1" dirty="0"/>
              <a:t>Inverted Index and Hash Tables</a:t>
            </a:r>
            <a:r>
              <a:rPr lang="en-IN" sz="1600" dirty="0"/>
              <a:t> further reduce search time and make the system suitable for handling large multilingual datasets.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The system goes beyond simple keyword matching by providing </a:t>
            </a:r>
            <a:r>
              <a:rPr lang="en-IN" sz="1600" b="1" dirty="0"/>
              <a:t>relevance-based ranking and contextual snippets</a:t>
            </a:r>
            <a:r>
              <a:rPr lang="en-IN" sz="1600" dirty="0"/>
              <a:t>, helping users quickly identify the most useful information. Its support for </a:t>
            </a:r>
            <a:r>
              <a:rPr lang="en-IN" sz="1600" b="1" dirty="0"/>
              <a:t>Telugu, Devanagari, Tamil, Bengali, and other Unicode scripts</a:t>
            </a:r>
            <a:r>
              <a:rPr lang="en-IN" sz="1600" dirty="0"/>
              <a:t> makes it particularly relevant to multilingual information retrieval.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B1EBDA-061D-9A5E-4B97-074883704D67}"/>
                  </a:ext>
                </a:extLst>
              </p14:cNvPr>
              <p14:cNvContentPartPr/>
              <p14:nvPr/>
            </p14:nvContentPartPr>
            <p14:xfrm>
              <a:off x="66043" y="5073190"/>
              <a:ext cx="908568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B1EBDA-061D-9A5E-4B97-074883704D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03" y="4857190"/>
                <a:ext cx="9193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7BAECEF-709E-5111-937E-198AF111E220}"/>
                  </a:ext>
                </a:extLst>
              </p14:cNvPr>
              <p14:cNvContentPartPr/>
              <p14:nvPr/>
            </p14:nvContentPartPr>
            <p14:xfrm>
              <a:off x="80803" y="4911190"/>
              <a:ext cx="9085320" cy="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7BAECEF-709E-5111-937E-198AF111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63" y="4695190"/>
                <a:ext cx="9192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26A6F8E-0F13-E717-2D31-89873E542F21}"/>
                  </a:ext>
                </a:extLst>
              </p14:cNvPr>
              <p14:cNvContentPartPr/>
              <p14:nvPr/>
            </p14:nvContentPartPr>
            <p14:xfrm>
              <a:off x="51283" y="95830"/>
              <a:ext cx="913752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26A6F8E-0F13-E717-2D31-89873E542F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717" y="-120170"/>
                <a:ext cx="924516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98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643</Words>
  <Application>Microsoft Office PowerPoint</Application>
  <PresentationFormat>On-screen Show (16:9)</PresentationFormat>
  <Paragraphs>71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Lora</vt:lpstr>
      <vt:lpstr>Arial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Yagnesh katukala</dc:creator>
  <cp:lastModifiedBy>yagneshkatukala@gmail.com</cp:lastModifiedBy>
  <cp:revision>7</cp:revision>
  <dcterms:created xsi:type="dcterms:W3CDTF">2026-08-07T14:30:52Z</dcterms:created>
  <dcterms:modified xsi:type="dcterms:W3CDTF">2026-09-16T14:21:54Z</dcterms:modified>
</cp:coreProperties>
</file>